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D8D898"/>
                </a:solidFill>
                <a:latin typeface="Calibre Semibold"/>
              </a:rPr>
              <a:t>CBRE | INDUSTRIAL &amp;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5087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65615" y="5029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spc="200">
                <a:solidFill>
                  <a:srgbClr val="D8D898"/>
                </a:solidFill>
                <a:latin typeface="Space Mono"/>
              </a:rPr>
              <a:t>6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8585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0" b="0" i="0">
                <a:solidFill>
                  <a:srgbClr val="FFFFFF"/>
                </a:solidFill>
                <a:latin typeface="Financier Display"/>
              </a:rPr>
              <a:t>Acme Corp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94484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80B8A8"/>
                </a:solidFill>
                <a:latin typeface="Calibre Light"/>
              </a:rPr>
              <a:t>Industrial &amp; Logistics Account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1508760" cy="18288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17550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20">
                <a:solidFill>
                  <a:srgbClr val="D8D898"/>
                </a:solidFill>
                <a:latin typeface="Calibre Semibold"/>
              </a:rPr>
              <a:t>WHAT'S INSIDE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046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41264"/>
            <a:ext cx="21563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e Light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9383" y="55046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2303" y="5541264"/>
            <a:ext cx="21563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e Light"/>
              </a:rPr>
              <a:t>The 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55046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5541264"/>
            <a:ext cx="21563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e Light"/>
              </a:rPr>
              <a:t>The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2311" y="55046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0B8A8"/>
                </a:solidFill>
                <a:latin typeface="Financier Display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5231" y="5541264"/>
            <a:ext cx="21563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e Light"/>
              </a:rPr>
              <a:t>What it means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D8D898"/>
                </a:solidFill>
                <a:latin typeface="Calibre Semibold"/>
              </a:rPr>
              <a:t>01 | 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FFFFFF"/>
                </a:solidFill>
                <a:latin typeface="Financier Display"/>
              </a:rPr>
              <a:t>Acme is consolidating, not expanding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70785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160">
                <a:solidFill>
                  <a:srgbClr val="80B8A8"/>
                </a:solidFill>
                <a:latin typeface="Calibre Semibold"/>
              </a:rPr>
              <a:t>THE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1681"/>
            <a:ext cx="11185855" cy="482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FFFFFF"/>
                </a:solidFill>
                <a:latin typeface="Calibre Light"/>
              </a:rPr>
              <a:t>Acme is mid-transformation: it is consolidating its European network into fewer, larger nodes and releasing surplus industrial assets, so near-term demand from Acme itself is shrinking rather than growing across the region.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41267"/>
            <a:ext cx="3484778" cy="786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4" b="0" i="0">
                <a:solidFill>
                  <a:srgbClr val="FFFFFF"/>
                </a:solidFill>
                <a:latin typeface="Financier Display"/>
              </a:rPr>
              <a:t>EUR 17.8bn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83718"/>
            <a:ext cx="3484778" cy="364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80B8A8"/>
                </a:solidFill>
                <a:latin typeface="Calibre Light"/>
              </a:rPr>
              <a:t>FY2025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4041267"/>
            <a:ext cx="3484778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Financier Display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4850511"/>
            <a:ext cx="3484778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80B8A8"/>
                </a:solidFill>
                <a:latin typeface="Calibre Light"/>
              </a:rPr>
              <a:t>sites in 11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3996" y="4041267"/>
            <a:ext cx="3484778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Financier Display"/>
              </a:rPr>
              <a:t>3.8 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4850511"/>
            <a:ext cx="3484778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80B8A8"/>
                </a:solidFill>
                <a:latin typeface="Calibre Light"/>
              </a:rPr>
              <a:t>weighted lease term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D8D898"/>
                </a:solidFill>
                <a:latin typeface="Calibre Semibold"/>
              </a:rPr>
              <a:t>CBRE I&amp;L ACCOUNT 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5087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0" b="0" i="0">
                <a:solidFill>
                  <a:srgbClr val="80B8A8"/>
                </a:solidFill>
                <a:latin typeface="Financier Display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280160"/>
            <a:ext cx="20116" cy="4754880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188720"/>
            <a:ext cx="5669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FFFFFF"/>
                </a:solidFill>
                <a:latin typeface="Financier Display"/>
              </a:rPr>
              <a:t>How the company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97180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FFFFF"/>
                </a:solidFill>
                <a:latin typeface="Calibre Light"/>
              </a:rPr>
              <a:t>Regionalisation shapes the footprint.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06240"/>
            <a:ext cx="109728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42976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20">
                <a:solidFill>
                  <a:srgbClr val="D8D898"/>
                </a:solidFill>
                <a:latin typeface="Calibre Semibold"/>
              </a:rPr>
              <a:t>IN THIS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7091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B8A8"/>
                </a:solidFill>
                <a:latin typeface="Space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70915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Calibre Light"/>
              </a:rPr>
              <a:t>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709159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B8A8"/>
                </a:solidFill>
                <a:latin typeface="Space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470915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Calibre Light"/>
              </a:rPr>
              <a:t>Supply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93207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B8A8"/>
                </a:solidFill>
                <a:latin typeface="Space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093207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Calibre Light"/>
              </a:rPr>
              <a:t>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17" name="Picture 16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F8481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0C1C1E"/>
                </a:solidFill>
                <a:latin typeface="Calibre Semibold"/>
              </a:rPr>
              <a:t>02 |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0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012A2C"/>
                </a:solidFill>
                <a:latin typeface="Financier Display"/>
              </a:rPr>
              <a:t>A compact European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11630"/>
            <a:ext cx="11185855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35254"/>
                </a:solidFill>
                <a:latin typeface="Calibre Light"/>
              </a:rPr>
              <a:t>Two currents: reshoring and contraction.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95193"/>
            <a:ext cx="11185855" cy="384048"/>
          </a:xfrm>
          <a:prstGeom prst="rect">
            <a:avLst/>
          </a:prstGeom>
          <a:solidFill>
            <a:srgbClr val="80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3195193"/>
            <a:ext cx="15533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80">
                <a:solidFill>
                  <a:srgbClr val="012A2C"/>
                </a:solidFill>
                <a:latin typeface="Calibre Semibold"/>
              </a:rPr>
              <a:t>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0275" y="3195193"/>
            <a:ext cx="216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80">
                <a:solidFill>
                  <a:srgbClr val="012A2C"/>
                </a:solidFill>
                <a:latin typeface="Calibre Semibold"/>
              </a:rPr>
              <a:t>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2128" y="3195193"/>
            <a:ext cx="216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80">
                <a:solidFill>
                  <a:srgbClr val="012A2C"/>
                </a:solidFill>
                <a:latin typeface="Calibre Semibold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3981" y="3195193"/>
            <a:ext cx="427677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80">
                <a:solidFill>
                  <a:srgbClr val="012A2C"/>
                </a:solidFill>
                <a:latin typeface="Calibre Semibold"/>
              </a:rPr>
              <a:t>I&amp;L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579241"/>
            <a:ext cx="15533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38F86"/>
                </a:solidFill>
                <a:latin typeface="Calibre Semibold"/>
              </a:rPr>
              <a:t>NL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0275" y="3579241"/>
            <a:ext cx="216582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2128" y="3579241"/>
            <a:ext cx="216582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Imaging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3981" y="3579241"/>
            <a:ext cx="42767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Flagship, sticky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3579241"/>
            <a:ext cx="11185855" cy="0"/>
          </a:xfrm>
          <a:prstGeom prst="line">
            <a:avLst/>
          </a:prstGeom>
          <a:ln w="9525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4018153"/>
            <a:ext cx="11185855" cy="438912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4018153"/>
            <a:ext cx="15533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38F86"/>
                </a:solidFill>
                <a:latin typeface="Calibre Semibold"/>
              </a:rPr>
              <a:t>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0275" y="4018153"/>
            <a:ext cx="216582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Hamburg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2128" y="4018153"/>
            <a:ext cx="216582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Tubes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3981" y="4018153"/>
            <a:ext cx="42767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Centre of excellence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4018153"/>
            <a:ext cx="11185855" cy="0"/>
          </a:xfrm>
          <a:prstGeom prst="line">
            <a:avLst/>
          </a:prstGeom>
          <a:ln w="9525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0936" y="4457064"/>
            <a:ext cx="155330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38F86"/>
                </a:solidFill>
                <a:latin typeface="Calibre Semibold"/>
              </a:rPr>
              <a:t>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0275" y="4457064"/>
            <a:ext cx="216582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Reedsville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2128" y="4457064"/>
            <a:ext cx="216582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Ultrasound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3981" y="4457064"/>
            <a:ext cx="427677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C1C1E"/>
                </a:solidFill>
                <a:latin typeface="Calibre Light"/>
              </a:rPr>
              <a:t>Reshoring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4457064"/>
            <a:ext cx="11185855" cy="0"/>
          </a:xfrm>
          <a:prstGeom prst="line">
            <a:avLst/>
          </a:prstGeom>
          <a:ln w="9525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" y="4895977"/>
            <a:ext cx="11185855" cy="0"/>
          </a:xfrm>
          <a:prstGeom prst="line">
            <a:avLst/>
          </a:prstGeom>
          <a:ln w="9525">
            <a:solidFill>
              <a:srgbClr val="D7D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38F86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D8D898"/>
                </a:solidFill>
                <a:latin typeface="Calibre Semibold"/>
              </a:rPr>
              <a:t>03 |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FFFFFF"/>
                </a:solidFill>
                <a:latin typeface="Financier Display"/>
              </a:rPr>
              <a:t>Make in-house, move via third parties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94381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80B8A8"/>
                </a:solidFill>
                <a:latin typeface="Financie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0957"/>
            <a:ext cx="1470583" cy="22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libre Semibold"/>
              </a:rPr>
              <a:t>Make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24708"/>
            <a:ext cx="1470583" cy="536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80B8A8"/>
                </a:solidFill>
                <a:latin typeface="Calibre Light"/>
              </a:rPr>
              <a:t>Regulated in-house manufacturing across many sites.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2263" y="2794381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80B8A8"/>
                </a:solidFill>
                <a:latin typeface="Financie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2383" y="2830957"/>
            <a:ext cx="1470583" cy="22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libre Semibold"/>
              </a:rPr>
              <a:t>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2383" y="3124708"/>
            <a:ext cx="1470583" cy="536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80B8A8"/>
                </a:solidFill>
                <a:latin typeface="Calibre Light"/>
              </a:rPr>
              <a:t>Distribution outsourced to 3PLs who hold the leases.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3780028"/>
            <a:ext cx="5410047" cy="0"/>
          </a:xfrm>
          <a:prstGeom prst="line">
            <a:avLst/>
          </a:prstGeom>
          <a:ln w="9525">
            <a:solidFill>
              <a:srgbClr val="184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3862324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80B8A8"/>
                </a:solidFill>
                <a:latin typeface="Financier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98900"/>
            <a:ext cx="1470583" cy="22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libre Semibold"/>
              </a:rPr>
              <a:t>Rebalance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92651"/>
            <a:ext cx="1470583" cy="360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 i="0">
                <a:solidFill>
                  <a:srgbClr val="80B8A8"/>
                </a:solidFill>
                <a:latin typeface="Calibre Light"/>
              </a:rPr>
              <a:t>Rebalanced region by region as volumes shift.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2830957"/>
            <a:ext cx="5410047" cy="1957324"/>
          </a:xfrm>
          <a:prstGeom prst="rect">
            <a:avLst/>
          </a:prstGeom>
          <a:solidFill>
            <a:srgbClr val="18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2830957"/>
            <a:ext cx="5410047" cy="50292"/>
          </a:xfrm>
          <a:prstGeom prst="rect">
            <a:avLst/>
          </a:prstGeom>
          <a:solidFill>
            <a:srgbClr val="D8D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759" y="3132708"/>
            <a:ext cx="4897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D8D898"/>
                </a:solidFill>
                <a:latin typeface="Calibre Semibold"/>
              </a:rPr>
              <a:t>THE I&amp;L 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498468"/>
            <a:ext cx="48979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80B8A8"/>
                </a:solidFill>
                <a:latin typeface="Calibre Semibold"/>
              </a:rPr>
              <a:t>TENURE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759" y="3745356"/>
            <a:ext cx="4897983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7F7F5"/>
                </a:solidFill>
                <a:latin typeface="Calibre Light"/>
              </a:rPr>
              <a:t>Owned core; small lease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759" y="4088510"/>
            <a:ext cx="48979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80B8A8"/>
                </a:solidFill>
                <a:latin typeface="Calibre Semibold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759" y="4335398"/>
            <a:ext cx="4897983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7F7F5"/>
                </a:solidFill>
                <a:latin typeface="Calibre Light"/>
              </a:rPr>
              <a:t>Reports to the CFO; EMEA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F8481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0C1C1E"/>
                </a:solidFill>
                <a:latin typeface="Calibre Semibold"/>
              </a:rPr>
              <a:t>04 |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508760" cy="16459"/>
          </a:xfrm>
          <a:prstGeom prst="rect">
            <a:avLst/>
          </a:prstGeom>
          <a:solidFill>
            <a:srgbClr val="0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85855" cy="42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012A2C"/>
                </a:solidFill>
                <a:latin typeface="Financier Display"/>
              </a:rPr>
              <a:t>What leadership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5671"/>
            <a:ext cx="11185855" cy="324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538F86"/>
                </a:solidFill>
                <a:latin typeface="Calibre Semibold"/>
              </a:rPr>
              <a:t>ON THE RECORD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48710"/>
            <a:ext cx="11185855" cy="12801"/>
          </a:xfrm>
          <a:prstGeom prst="rect">
            <a:avLst/>
          </a:prstGeom>
          <a:solidFill>
            <a:srgbClr val="53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517390"/>
            <a:ext cx="11185855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012A2C"/>
                </a:solidFill>
                <a:latin typeface="Financier Display"/>
              </a:rPr>
              <a:t>“We are consolidating to fewer, larger nodes.”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52669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50">
                <a:solidFill>
                  <a:srgbClr val="538F86"/>
                </a:solidFill>
                <a:latin typeface="Calibre Semibold"/>
              </a:rPr>
              <a:t>CFO, FY2025 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F8481"/>
                </a:solidFill>
                <a:latin typeface="Calibre"/>
              </a:rPr>
              <a:t>Confidential &amp; Proprietary | (c) 2026 CBRE, Inc.</a:t>
            </a:r>
          </a:p>
        </p:txBody>
      </p:sp>
      <p:pic>
        <p:nvPicPr>
          <p:cNvPr id="3" name="Picture 2" descr="cbre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6342230"/>
            <a:ext cx="960120" cy="24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50">
                <a:solidFill>
                  <a:srgbClr val="80B8A8"/>
                </a:solidFill>
                <a:latin typeface="Calibre Semibold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508760" cy="16459"/>
          </a:xfrm>
          <a:prstGeom prst="rect">
            <a:avLst/>
          </a:prstGeom>
          <a:solidFill>
            <a:srgbClr val="80B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012A2C"/>
                </a:solidFill>
                <a:latin typeface="Financier Display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957255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35254"/>
                </a:solidFill>
                <a:latin typeface="Calibre Light"/>
              </a:rPr>
              <a:t>[1] example.com  (tier 1, 2026-01-01)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